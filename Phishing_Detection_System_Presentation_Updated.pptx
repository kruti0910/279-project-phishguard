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PhishGuard - Phishing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B6CB7"/>
                </a:solidFill>
              </a:defRPr>
            </a:pPr>
            <a:r>
              <a:t>Using Email Header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Rule-Based Detection Through Header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[Your Name] | [Course Name]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1. Introduction &amp; Motivation</a:t>
            </a:r>
          </a:p>
          <a:p>
            <a:pPr>
              <a:spcAft>
                <a:spcPts val="1200"/>
              </a:spcAft>
              <a:defRPr sz="1800"/>
            </a:pPr>
            <a:r>
              <a:t>2. Problem Statement</a:t>
            </a:r>
          </a:p>
          <a:p>
            <a:pPr>
              <a:spcAft>
                <a:spcPts val="1200"/>
              </a:spcAft>
              <a:defRPr sz="1800"/>
            </a:pPr>
            <a:r>
              <a:t>3. System Architecture</a:t>
            </a:r>
          </a:p>
          <a:p>
            <a:pPr>
              <a:spcAft>
                <a:spcPts val="1200"/>
              </a:spcAft>
              <a:defRPr sz="1800"/>
            </a:pPr>
            <a:r>
              <a:t>4. Detection Methodology</a:t>
            </a:r>
          </a:p>
          <a:p>
            <a:pPr>
              <a:spcAft>
                <a:spcPts val="1200"/>
              </a:spcAft>
              <a:defRPr sz="1800"/>
            </a:pPr>
            <a:r>
              <a:t>5. Key Features</a:t>
            </a:r>
          </a:p>
          <a:p>
            <a:pPr>
              <a:spcAft>
                <a:spcPts val="1200"/>
              </a:spcAft>
              <a:defRPr sz="1800"/>
            </a:pPr>
            <a:r>
              <a:t>6. Implementation Details</a:t>
            </a:r>
          </a:p>
          <a:p>
            <a:pPr>
              <a:spcAft>
                <a:spcPts val="1200"/>
              </a:spcAft>
              <a:defRPr sz="1800"/>
            </a:pPr>
            <a:r>
              <a:t>7. Live Demo ⭐</a:t>
            </a:r>
          </a:p>
          <a:p>
            <a:pPr>
              <a:spcAft>
                <a:spcPts val="1200"/>
              </a:spcAft>
              <a:defRPr sz="1800"/>
            </a:pPr>
            <a:r>
              <a:t>8. Results &amp; Evaluation</a:t>
            </a:r>
          </a:p>
          <a:p>
            <a:pPr>
              <a:spcAft>
                <a:spcPts val="1200"/>
              </a:spcAft>
              <a:defRPr sz="1800"/>
            </a:pPr>
            <a:r>
              <a:t>9. Advantages &amp; Limitations</a:t>
            </a:r>
          </a:p>
          <a:p>
            <a:pPr>
              <a:spcAft>
                <a:spcPts val="1200"/>
              </a:spcAft>
              <a:defRPr sz="1800"/>
            </a:pPr>
            <a:r>
              <a:t>10. Future Improvements</a:t>
            </a:r>
          </a:p>
          <a:p>
            <a:pPr>
              <a:spcAft>
                <a:spcPts val="1200"/>
              </a:spcAft>
              <a:defRPr sz="1800"/>
            </a:pPr>
            <a:r>
              <a:t>11.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📊 Phishing Statistics:</a:t>
            </a:r>
          </a:p>
          <a:p>
            <a:pPr>
              <a:spcAft>
                <a:spcPts val="1200"/>
              </a:spcAft>
              <a:defRPr sz="1800"/>
            </a:pPr>
            <a:r>
              <a:t>  • Phishing attacks increased significantly in 2024</a:t>
            </a:r>
          </a:p>
          <a:p>
            <a:pPr>
              <a:spcAft>
                <a:spcPts val="1200"/>
              </a:spcAft>
              <a:defRPr sz="1800"/>
            </a:pPr>
            <a:r>
              <a:t>  • Email is the #1 attack vector</a:t>
            </a:r>
          </a:p>
          <a:p>
            <a:pPr>
              <a:spcAft>
                <a:spcPts val="1200"/>
              </a:spcAft>
              <a:defRPr sz="1800"/>
            </a:pPr>
            <a:r>
              <a:t>  • Organizations lose billions annually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🔍 Why Email Headers?</a:t>
            </a:r>
          </a:p>
          <a:p>
            <a:pPr>
              <a:spcAft>
                <a:spcPts val="1200"/>
              </a:spcAft>
              <a:defRPr sz="1800"/>
            </a:pPr>
            <a:r>
              <a:t>  • Headers contain valuable metadata</a:t>
            </a:r>
          </a:p>
          <a:p>
            <a:pPr>
              <a:spcAft>
                <a:spcPts val="1200"/>
              </a:spcAft>
              <a:defRPr sz="1800"/>
            </a:pPr>
            <a:r>
              <a:t>  • Can reveal spoofing attempts</a:t>
            </a:r>
          </a:p>
          <a:p>
            <a:pPr>
              <a:spcAft>
                <a:spcPts val="1200"/>
              </a:spcAft>
              <a:defRPr sz="1800"/>
            </a:pPr>
            <a:r>
              <a:t>  • Privacy-preserving (no content analysis)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❌ Challenges:</a:t>
            </a:r>
          </a:p>
          <a:p>
            <a:pPr>
              <a:spcAft>
                <a:spcPts val="1200"/>
              </a:spcAft>
              <a:defRPr sz="1800"/>
            </a:pPr>
            <a:r>
              <a:t>  • Traditional spam filters miss sophisticated attacks</a:t>
            </a:r>
          </a:p>
          <a:p>
            <a:pPr>
              <a:spcAft>
                <a:spcPts val="1200"/>
              </a:spcAft>
              <a:defRPr sz="1800"/>
            </a:pPr>
            <a:r>
              <a:t>  • Users often can't identify phishing emails</a:t>
            </a:r>
          </a:p>
          <a:p>
            <a:pPr>
              <a:spcAft>
                <a:spcPts val="1200"/>
              </a:spcAft>
              <a:defRPr sz="1800"/>
            </a:pPr>
            <a:r>
              <a:t>  • Need automated detection system</a:t>
            </a:r>
          </a:p>
          <a:p>
            <a:pPr>
              <a:spcAft>
                <a:spcPts val="1200"/>
              </a:spcAft>
              <a:defRPr sz="1800"/>
            </a:pPr>
            <a:r>
              <a:t>  • Must preserve user privacy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Our Solution:</a:t>
            </a:r>
          </a:p>
          <a:p>
            <a:pPr>
              <a:spcAft>
                <a:spcPts val="1200"/>
              </a:spcAft>
              <a:defRPr sz="1800"/>
            </a:pPr>
            <a:r>
              <a:t>  • Analyze email headers only</a:t>
            </a:r>
          </a:p>
          <a:p>
            <a:pPr>
              <a:spcAft>
                <a:spcPts val="1200"/>
              </a:spcAft>
              <a:defRPr sz="1800"/>
            </a:pPr>
            <a:r>
              <a:t>  • Rule-based heuristic detection</a:t>
            </a:r>
          </a:p>
          <a:p>
            <a:pPr>
              <a:spcAft>
                <a:spcPts val="1200"/>
              </a:spcAft>
              <a:defRPr sz="1800"/>
            </a:pPr>
            <a:r>
              <a:t>  • Provide confidence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🏗️ System Components: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1. Email Parser → Parses .eml, .msg, .txt files</a:t>
            </a:r>
          </a:p>
          <a:p>
            <a:pPr>
              <a:spcAft>
                <a:spcPts val="1200"/>
              </a:spcAft>
              <a:defRPr sz="1800"/>
            </a:pPr>
            <a:r>
              <a:t>2. Feature Extractor → Extracts header information</a:t>
            </a:r>
          </a:p>
          <a:p>
            <a:pPr>
              <a:spcAft>
                <a:spcPts val="1200"/>
              </a:spcAft>
              <a:defRPr sz="1800"/>
            </a:pPr>
            <a:r>
              <a:t>3. Detection Engine → Applies 60+ heuristic rules</a:t>
            </a:r>
          </a:p>
          <a:p>
            <a:pPr>
              <a:spcAft>
                <a:spcPts val="1200"/>
              </a:spcAft>
              <a:defRPr sz="1800"/>
            </a:pPr>
            <a:r>
              <a:t>4. Web Interface → Flask web application</a:t>
            </a:r>
          </a:p>
          <a:p>
            <a:pPr>
              <a:spcAft>
                <a:spcPts val="1200"/>
              </a:spcAft>
              <a:defRPr sz="1800"/>
            </a:pPr>
            <a:r>
              <a:t>5. CLI Tool → Command-line interface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Flow: Email File → Parser → Feature Extractor → Detection Engine →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Detection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🔍 Heuristic Rule-Based Detection</a:t>
            </a:r>
          </a:p>
          <a:p/>
          <a:p>
            <a:r>
              <a:t>Process:</a:t>
            </a:r>
          </a:p>
          <a:p>
            <a:r>
              <a:t>1. Extract features from email headers</a:t>
            </a:r>
          </a:p>
          <a:p>
            <a:r>
              <a:t>2. Apply 31 detection rules</a:t>
            </a:r>
          </a:p>
          <a:p>
            <a:r>
              <a:t>3. Calculate risk score (0-100%)</a:t>
            </a:r>
          </a:p>
          <a:p>
            <a:r>
              <a:t>4. Classify based on threshold (default: 50%)</a:t>
            </a:r>
          </a:p>
          <a:p/>
          <a:p>
            <a:r>
              <a:t>If score ≥ 50% → PHISHING</a:t>
            </a:r>
          </a:p>
          <a:p>
            <a:r>
              <a:t>If score &lt; 50% → LEGITIMATE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Detection Rule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📋 5 Main Rule Categories: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1. Sender Analysis (20-25 points)</a:t>
            </a:r>
          </a:p>
          <a:p>
            <a:pPr>
              <a:spcAft>
                <a:spcPts val="1200"/>
              </a:spcAft>
              <a:defRPr sz="1800"/>
            </a:pPr>
            <a:r>
              <a:t>   • From/Reply-To mismatch</a:t>
            </a:r>
          </a:p>
          <a:p>
            <a:pPr>
              <a:spcAft>
                <a:spcPts val="1200"/>
              </a:spcAft>
              <a:defRPr sz="1800"/>
            </a:pPr>
            <a:r>
              <a:t>   • Free email providers in business context</a:t>
            </a:r>
          </a:p>
          <a:p>
            <a:pPr>
              <a:spcAft>
                <a:spcPts val="1200"/>
              </a:spcAft>
              <a:defRPr sz="1800"/>
            </a:pPr>
            <a:r>
              <a:t>   • Missing SPF/DKIM/DMARC records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Subject Line Analysis (10-20 points)</a:t>
            </a:r>
          </a:p>
          <a:p>
            <a:pPr>
              <a:spcAft>
                <a:spcPts val="1200"/>
              </a:spcAft>
              <a:defRPr sz="1800"/>
            </a:pPr>
            <a:r>
              <a:t>   • Urgent keywords (URGENT, IMMEDIATE)</a:t>
            </a:r>
          </a:p>
          <a:p>
            <a:pPr>
              <a:spcAft>
                <a:spcPts val="1200"/>
              </a:spcAft>
              <a:defRPr sz="1800"/>
            </a:pPr>
            <a:r>
              <a:t>   • Financial terms (payment, invoice)</a:t>
            </a:r>
          </a:p>
          <a:p>
            <a:pPr>
              <a:spcAft>
                <a:spcPts val="1200"/>
              </a:spcAft>
              <a:defRPr sz="1800"/>
            </a:pPr>
            <a:r>
              <a:t>   • Excessive punctuation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Detection Rule Categories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3. Date/Time Analysis (15-25 points)</a:t>
            </a:r>
          </a:p>
          <a:p>
            <a:pPr>
              <a:spcAft>
                <a:spcPts val="1200"/>
              </a:spcAft>
              <a:defRPr sz="1800"/>
            </a:pPr>
            <a:r>
              <a:t>   • Future dates</a:t>
            </a:r>
          </a:p>
          <a:p>
            <a:pPr>
              <a:spcAft>
                <a:spcPts val="1200"/>
              </a:spcAft>
              <a:defRPr sz="1800"/>
            </a:pPr>
            <a:r>
              <a:t>   • Time discrepancies in headers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Received Chain Analysis (15-25 points)</a:t>
            </a:r>
          </a:p>
          <a:p>
            <a:pPr>
              <a:spcAft>
                <a:spcPts val="1200"/>
              </a:spcAft>
              <a:defRPr sz="1800"/>
            </a:pPr>
            <a:r>
              <a:t>   • Suspicious routing patterns</a:t>
            </a:r>
          </a:p>
          <a:p>
            <a:pPr>
              <a:spcAft>
                <a:spcPts val="1200"/>
              </a:spcAft>
              <a:defRPr sz="1800"/>
            </a:pPr>
            <a:r>
              <a:t>   • Unusual hop patterns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5. Authentication Checks (15-25 points)</a:t>
            </a:r>
          </a:p>
          <a:p>
            <a:pPr>
              <a:spcAft>
                <a:spcPts val="1200"/>
              </a:spcAft>
              <a:defRPr sz="1800"/>
            </a:pPr>
            <a:r>
              <a:t>   • SPF authentication failures</a:t>
            </a:r>
          </a:p>
          <a:p>
            <a:pPr>
              <a:spcAft>
                <a:spcPts val="1200"/>
              </a:spcAft>
              <a:defRPr sz="1800"/>
            </a:pPr>
            <a:r>
              <a:t>   • DKIM signature missing</a:t>
            </a:r>
          </a:p>
          <a:p>
            <a:pPr>
              <a:spcAft>
                <a:spcPts val="1200"/>
              </a:spcAft>
              <a:defRPr sz="1800"/>
            </a:pPr>
            <a:r>
              <a:t>   • DMARC policy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✅ Dual Interface</a:t>
            </a:r>
          </a:p>
          <a:p>
            <a:r>
              <a:t>   • Web application (user-friendly)</a:t>
            </a:r>
          </a:p>
          <a:p>
            <a:r>
              <a:t>   • CLI tool (batch processing)</a:t>
            </a:r>
          </a:p>
          <a:p/>
          <a:p>
            <a:r>
              <a:t>✅ Comprehensive Analysis</a:t>
            </a:r>
          </a:p>
          <a:p>
            <a:r>
              <a:t>   • 31 detection rules</a:t>
            </a:r>
          </a:p>
          <a:p>
            <a:r>
              <a:t>   • Detailed reporting with indicators</a:t>
            </a:r>
          </a:p>
          <a:p/>
          <a:p>
            <a:r>
              <a:t>✅ Confidence Scoring</a:t>
            </a:r>
          </a:p>
          <a:p>
            <a:r>
              <a:t>   • Percentage-based results (0-100%)</a:t>
            </a:r>
          </a:p>
          <a:p>
            <a:r>
              <a:t>   • Transparent reasoning</a:t>
            </a:r>
          </a:p>
          <a:p/>
          <a:p>
            <a:r>
              <a:t>✅ Sample Data Included</a:t>
            </a:r>
          </a:p>
          <a:p>
            <a:r>
              <a:t>   • 100+ phishing email samples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🛠️ Technologies:</a:t>
            </a:r>
          </a:p>
          <a:p>
            <a:pPr>
              <a:spcAft>
                <a:spcPts val="1200"/>
              </a:spcAft>
              <a:defRPr sz="1800"/>
            </a:pPr>
            <a:r>
              <a:t>   • Python 3</a:t>
            </a:r>
          </a:p>
          <a:p>
            <a:pPr>
              <a:spcAft>
                <a:spcPts val="1200"/>
              </a:spcAft>
              <a:defRPr sz="1800"/>
            </a:pPr>
            <a:r>
              <a:t>   • Flask (web framework)</a:t>
            </a:r>
          </a:p>
          <a:p>
            <a:pPr>
              <a:spcAft>
                <a:spcPts val="1200"/>
              </a:spcAft>
              <a:defRPr sz="1800"/>
            </a:pPr>
            <a:r>
              <a:t>   • mail-parser (email parsing)</a:t>
            </a:r>
          </a:p>
          <a:p>
            <a:pPr>
              <a:spcAft>
                <a:spcPts val="1200"/>
              </a:spcAft>
              <a:defRPr sz="1800"/>
            </a:pPr>
            <a:r>
              <a:t>   • Bootstrap (UI styling)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📄 Supported Formats:</a:t>
            </a:r>
          </a:p>
          <a:p>
            <a:pPr>
              <a:spcAft>
                <a:spcPts val="1200"/>
              </a:spcAft>
              <a:defRPr sz="1800"/>
            </a:pPr>
            <a:r>
              <a:t>   • .eml (Email files)</a:t>
            </a:r>
          </a:p>
          <a:p>
            <a:pPr>
              <a:spcAft>
                <a:spcPts val="1200"/>
              </a:spcAft>
              <a:defRPr sz="1800"/>
            </a:pPr>
            <a:r>
              <a:t>   • .msg (Outlook files)</a:t>
            </a:r>
          </a:p>
          <a:p>
            <a:pPr>
              <a:spcAft>
                <a:spcPts val="1200"/>
              </a:spcAft>
              <a:defRPr sz="1800"/>
            </a:pPr>
            <a:r>
              <a:t>   • .txt (Plain text)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🏗️ Project Structure:</a:t>
            </a:r>
          </a:p>
          <a:p>
            <a:pPr>
              <a:spcAft>
                <a:spcPts val="1200"/>
              </a:spcAft>
              <a:defRPr sz="1800"/>
            </a:pPr>
            <a:r>
              <a:t>   • Modular design</a:t>
            </a:r>
          </a:p>
          <a:p>
            <a:pPr>
              <a:spcAft>
                <a:spcPts val="1200"/>
              </a:spcAft>
              <a:defRPr sz="1800"/>
            </a:pPr>
            <a:r>
              <a:t>   • Separate modules for parsing, extraction,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🎬 Live Demonstration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What We'll Show:</a:t>
            </a:r>
          </a:p>
          <a:p>
            <a:pPr>
              <a:spcAft>
                <a:spcPts val="1200"/>
              </a:spcAft>
              <a:defRPr sz="1800"/>
            </a:pPr>
            <a:r>
              <a:t>1. Start Flask web application</a:t>
            </a:r>
          </a:p>
          <a:p>
            <a:pPr>
              <a:spcAft>
                <a:spcPts val="1200"/>
              </a:spcAft>
              <a:defRPr sz="1800"/>
            </a:pPr>
            <a:r>
              <a:t>2. Upload sample phishing email</a:t>
            </a:r>
          </a:p>
          <a:p>
            <a:pPr>
              <a:spcAft>
                <a:spcPts val="1200"/>
              </a:spcAft>
              <a:defRPr sz="1800"/>
            </a:pPr>
            <a:r>
              <a:t>3. View analysis results:</a:t>
            </a:r>
          </a:p>
          <a:p>
            <a:pPr>
              <a:spcAft>
                <a:spcPts val="1200"/>
              </a:spcAft>
              <a:defRPr sz="1800"/>
            </a:pPr>
            <a:r>
              <a:t>   • Phishing probability score</a:t>
            </a:r>
          </a:p>
          <a:p>
            <a:pPr>
              <a:spcAft>
                <a:spcPts val="1200"/>
              </a:spcAft>
              <a:defRPr sz="1800"/>
            </a:pPr>
            <a:r>
              <a:t>   • List of suspicious indicators</a:t>
            </a:r>
          </a:p>
          <a:p>
            <a:pPr>
              <a:spcAft>
                <a:spcPts val="1200"/>
              </a:spcAft>
              <a:defRPr sz="1800"/>
            </a:pPr>
            <a:r>
              <a:t>   • Detailed breakdown</a:t>
            </a:r>
          </a:p>
          <a:p>
            <a:pPr>
              <a:spcAft>
                <a:spcPts val="1200"/>
              </a:spcAft>
              <a:defRPr sz="1800"/>
            </a:pPr>
            <a:r>
              <a:t>4. Navigate dashboard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⭐ This is the highlight of our presentation!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📊 Testing &amp; Evaluation: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Test Data:</a:t>
            </a:r>
          </a:p>
          <a:p>
            <a:pPr>
              <a:spcAft>
                <a:spcPts val="1200"/>
              </a:spcAft>
              <a:defRPr sz="1800"/>
            </a:pPr>
            <a:r>
              <a:t>   • 100+ phishing email samples</a:t>
            </a:r>
          </a:p>
          <a:p>
            <a:pPr>
              <a:spcAft>
                <a:spcPts val="1200"/>
              </a:spcAft>
              <a:defRPr sz="1800"/>
            </a:pPr>
            <a:r>
              <a:t>   • Legitimate email samples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Performance Metrics:</a:t>
            </a:r>
          </a:p>
          <a:p>
            <a:pPr>
              <a:spcAft>
                <a:spcPts val="1200"/>
              </a:spcAft>
              <a:defRPr sz="1800"/>
            </a:pPr>
            <a:r>
              <a:t>   • High detection rate for known phishing patterns</a:t>
            </a:r>
          </a:p>
          <a:p>
            <a:pPr>
              <a:spcAft>
                <a:spcPts val="1200"/>
              </a:spcAft>
              <a:defRPr sz="1800"/>
            </a:pPr>
            <a:r>
              <a:t>   • Low false positive rate</a:t>
            </a:r>
          </a:p>
          <a:p>
            <a:pPr>
              <a:spcAft>
                <a:spcPts val="1200"/>
              </a:spcAft>
              <a:defRPr sz="1800"/>
            </a:pPr>
            <a:r>
              <a:t>   • Fast processing (&lt;1 second per email)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Sample Output:</a:t>
            </a:r>
          </a:p>
          <a:p>
            <a:pPr>
              <a:spcAft>
                <a:spcPts val="1200"/>
              </a:spcAft>
              <a:defRPr sz="1800"/>
            </a:pPr>
            <a:r>
              <a:t>   • 75% phishing probability</a:t>
            </a:r>
          </a:p>
          <a:p>
            <a:pPr>
              <a:spcAft>
                <a:spcPts val="1200"/>
              </a:spcAft>
              <a:defRPr sz="1800"/>
            </a:pPr>
            <a:r>
              <a:t>   • 5 suspicious indicators detected</a:t>
            </a:r>
          </a:p>
          <a:p>
            <a:pPr>
              <a:spcAft>
                <a:spcPts val="1200"/>
              </a:spcAft>
              <a:defRPr sz="1800"/>
            </a:pPr>
            <a:r>
              <a:t>   • Detailed analysis breakdown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✅ Transparency</a:t>
            </a:r>
          </a:p>
          <a:p>
            <a:pPr>
              <a:spcAft>
                <a:spcPts val="1200"/>
              </a:spcAft>
              <a:defRPr sz="1800"/>
            </a:pPr>
            <a:r>
              <a:t>   • Rule-based approach is explainable</a:t>
            </a:r>
          </a:p>
          <a:p>
            <a:pPr>
              <a:spcAft>
                <a:spcPts val="1200"/>
              </a:spcAft>
              <a:defRPr sz="1800"/>
            </a:pPr>
            <a:r>
              <a:t>   • Users can see why email was flagged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Privacy-Preserving</a:t>
            </a:r>
          </a:p>
          <a:p>
            <a:pPr>
              <a:spcAft>
                <a:spcPts val="1200"/>
              </a:spcAft>
              <a:defRPr sz="1800"/>
            </a:pPr>
            <a:r>
              <a:t>   • Only analyzes headers</a:t>
            </a:r>
          </a:p>
          <a:p>
            <a:pPr>
              <a:spcAft>
                <a:spcPts val="1200"/>
              </a:spcAft>
              <a:defRPr sz="1800"/>
            </a:pPr>
            <a:r>
              <a:t>   • No content analysis required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Fast Processing</a:t>
            </a:r>
          </a:p>
          <a:p>
            <a:pPr>
              <a:spcAft>
                <a:spcPts val="1200"/>
              </a:spcAft>
              <a:defRPr sz="1800"/>
            </a:pPr>
            <a:r>
              <a:t>   • Real-time analysis</a:t>
            </a:r>
          </a:p>
          <a:p>
            <a:pPr>
              <a:spcAft>
                <a:spcPts val="1200"/>
              </a:spcAft>
              <a:defRPr sz="1800"/>
            </a:pPr>
            <a:r>
              <a:t>   • &lt;1 second per email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✅ Educational Value</a:t>
            </a:r>
          </a:p>
          <a:p>
            <a:pPr>
              <a:spcAft>
                <a:spcPts val="1200"/>
              </a:spcAft>
              <a:defRPr sz="1800"/>
            </a:pPr>
            <a:r>
              <a:t>   • Helps users learn phishing indicators</a:t>
            </a:r>
          </a:p>
          <a:p>
            <a:pPr>
              <a:spcAft>
                <a:spcPts val="1200"/>
              </a:spcAft>
              <a:defRPr sz="1800"/>
            </a:pPr>
            <a:r>
              <a:t>   • Transparent reasoning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⚠️ Limitations: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False Positives</a:t>
            </a:r>
          </a:p>
          <a:p>
            <a:pPr>
              <a:spcAft>
                <a:spcPts val="1200"/>
              </a:spcAft>
              <a:defRPr sz="1800"/>
            </a:pPr>
            <a:r>
              <a:t>   May flag legitimate emails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Header-Only Analysis</a:t>
            </a:r>
          </a:p>
          <a:p>
            <a:pPr>
              <a:spcAft>
                <a:spcPts val="1200"/>
              </a:spcAft>
              <a:defRPr sz="1800"/>
            </a:pPr>
            <a:r>
              <a:t>   Doesn't analyze email body content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Rule-Based Approach</a:t>
            </a:r>
          </a:p>
          <a:p>
            <a:pPr>
              <a:spcAft>
                <a:spcPts val="1200"/>
              </a:spcAft>
              <a:defRPr sz="1800"/>
            </a:pPr>
            <a:r>
              <a:t>   Requires manual rule updates</a:t>
            </a:r>
          </a:p>
          <a:p>
            <a:pPr>
              <a:spcAft>
                <a:spcPts val="1200"/>
              </a:spcAft>
              <a:defRPr sz="1800"/>
            </a:pPr>
            <a:r>
              <a:t>   May miss new attack techniques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Standalone Tool</a:t>
            </a:r>
          </a:p>
          <a:p>
            <a:pPr>
              <a:spcAft>
                <a:spcPts val="1200"/>
              </a:spcAft>
              <a:defRPr sz="1800"/>
            </a:pPr>
            <a:r>
              <a:t>   No real-time email client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🚀 Future Improvements: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Machine Learning Integration</a:t>
            </a:r>
          </a:p>
          <a:p>
            <a:pPr>
              <a:spcAft>
                <a:spcPts val="1200"/>
              </a:spcAft>
              <a:defRPr sz="1800"/>
            </a:pPr>
            <a:r>
              <a:t>   Combine rules with ML models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Content Analysis</a:t>
            </a:r>
          </a:p>
          <a:p>
            <a:pPr>
              <a:spcAft>
                <a:spcPts val="1200"/>
              </a:spcAft>
              <a:defRPr sz="1800"/>
            </a:pPr>
            <a:r>
              <a:t>   Analyze email body text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Real-Time Scanning</a:t>
            </a:r>
          </a:p>
          <a:p>
            <a:pPr>
              <a:spcAft>
                <a:spcPts val="1200"/>
              </a:spcAft>
              <a:defRPr sz="1800"/>
            </a:pPr>
            <a:r>
              <a:t>   Email client integration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API Integration</a:t>
            </a:r>
          </a:p>
          <a:p>
            <a:pPr>
              <a:spcAft>
                <a:spcPts val="1200"/>
              </a:spcAft>
              <a:defRPr sz="1800"/>
            </a:pPr>
            <a:r>
              <a:t>   Domain reputation checks</a:t>
            </a:r>
          </a:p>
          <a:p>
            <a:pPr>
              <a:spcAft>
                <a:spcPts val="1200"/>
              </a:spcAft>
              <a:defRPr sz="1800"/>
            </a:pPr>
            <a:r>
              <a:t>   VirusTotal integration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User Training</a:t>
            </a:r>
          </a:p>
          <a:p>
            <a:pPr>
              <a:spcAft>
                <a:spcPts val="1200"/>
              </a:spcAft>
              <a:defRPr sz="1800"/>
            </a:pPr>
            <a:r>
              <a:t>   Interactive tutorials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82848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/>
            </a:pPr>
            <a:r>
              <a:t>📝 Summary: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Rule-based phishing detection system</a:t>
            </a:r>
          </a:p>
          <a:p>
            <a:pPr>
              <a:spcAft>
                <a:spcPts val="1200"/>
              </a:spcAft>
              <a:defRPr sz="1800"/>
            </a:pPr>
            <a:r>
              <a:t>• Analyzes email headers for suspicious patterns</a:t>
            </a:r>
          </a:p>
          <a:p>
            <a:pPr>
              <a:spcAft>
                <a:spcPts val="1200"/>
              </a:spcAft>
              <a:defRPr sz="1800"/>
            </a:pPr>
            <a:r>
              <a:t>• Dual interface (web + CLI)</a:t>
            </a:r>
          </a:p>
          <a:p>
            <a:pPr>
              <a:spcAft>
                <a:spcPts val="1200"/>
              </a:spcAft>
              <a:defRPr sz="1800"/>
            </a:pPr>
            <a:r>
              <a:t>• 60+ detection rules</a:t>
            </a:r>
          </a:p>
          <a:p>
            <a:pPr>
              <a:spcAft>
                <a:spcPts val="1200"/>
              </a:spcAft>
              <a:defRPr sz="1800"/>
            </a:pPr>
            <a:r>
              <a:t>• Privacy-preserving approach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Key Takeaways:</a:t>
            </a:r>
          </a:p>
          <a:p>
            <a:pPr>
              <a:spcAft>
                <a:spcPts val="1200"/>
              </a:spcAft>
              <a:defRPr sz="1800"/>
            </a:pPr>
            <a:r>
              <a:t>• Email headers contain valuable security information</a:t>
            </a:r>
          </a:p>
          <a:p>
            <a:pPr>
              <a:spcAft>
                <a:spcPts val="1200"/>
              </a:spcAft>
              <a:defRPr sz="1800"/>
            </a:pPr>
            <a:r>
              <a:t>• Heuristic rules provide transparent detection</a:t>
            </a:r>
          </a:p>
          <a:p>
            <a:pPr>
              <a:spcAft>
                <a:spcPts val="1200"/>
              </a:spcAft>
              <a:defRPr sz="1800"/>
            </a:pPr>
            <a:r>
              <a:t>• System is practical and educational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82848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B6CB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